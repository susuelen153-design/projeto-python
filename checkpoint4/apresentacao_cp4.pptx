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noite, professor. Somos a equipe Perceptron e vamos apresentar dois temas: Probabilidade e a IA, e Distribuicao Normal e a IA, aplicados a um problema de logistica: prever atrasos de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contexto: SLA de 60 minutos, incerteza operacional. Reforcar que usamos dados simulados justamente para garantir reprodutibilidade. Ler as 5 perguntas do painel azul, que sao o roteiro da apresentacao.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as tres formulas. Enfatizar que Bayes e o coracao do modelo que mostraremos adiante: ele inverte a pergunta - em vez de P(atraso dado chuva), permite calcular a classe mais provavel dado o que observamos.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conceito de pseudoaleatoriedade e a importancia da seed. Mostrar que cada variavel vem de uma distribuicao: Bernoulli para eventos binarios, Normal para grandezas continuas. Destacar a linha do tempo de entrega, que soma efeitos + ruido normal.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a probabilidade condicional e o que transforma um numero medio em informacao acionavel: 22,5% na media, mas 64,7% quando chove no horario de pico. Esse e o tipo de padrao que a IA aprende.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cada termo do teorema apontando para os quatro cartoes. Fechar mostrando que a formula bate com a frequencia empirica - e a prova de que o raciocinio bayesiano descreve corretamente o fenomeno.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 formula da densidade e o escore z. O ponto principal: a area vermelha sob a curva a direita do SLA e a probabilidade de atraso, 23,7%, praticamente igual aos 22,5% observados. Citar o percentil 95 como aplicacao gerencial direta.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o TCL com os tres graficos: populacao assimetrica, medias com n=5 ja mais simetricas, n=50 praticamente normais. Depois mostrar o teste de Shapiro-Wilk e a regra empirica como validacao. Fechar com a lista de usos da Normal dentro da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 o slide central: mostrar que a funcao densidade_normal e literalmente a formula da Normal, e que prever() e o Teorema de Bayes aplicado. Ou seja, os dois temas da apresentacao viram codigo executavel.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matriz de confusao: 221 acertos no prazo, 41 atrasos detectados, 33 nao detectados, apenas 5 alarmes falsos. Depois mostrar a tabela de cenarios simulados: o modelo responde em probabilidade, permitindo agir antes do atraso acontecer.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Monte Carlo: repetir o experimento milhares de vezes com numeros pseudoaleatorios para estimar probabilidades de cenarios que ainda nao aconteceram. Destacar o resultado: o risco cai de 23,7% para 6,8%.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amarrando os dois temas: probabilidade mostrou onde esta o risco, a Normal permitiu quantifica-lo, e juntas viraram um modelo de IA com beneficio mensuravel para a operacao.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Citar as referencias principais e informar que o codigo-fonte completo esta no arquivo .py entregue junto com o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754880" cy="4754880"/>
          </a:xfrm>
          <a:prstGeom prst="ellipse">
            <a:avLst/>
          </a:prstGeom>
          <a:solidFill>
            <a:srgbClr val="1C7293">
              <a:alpha val="3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D1495B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658368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4  |  STATISTICAL COMPUTING WITH R &amp; PYTHON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188720"/>
            <a:ext cx="9326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 e Distribuição Normal aplicadas à Inteligência Artificial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88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E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atrasos em entregas: estudo aplicado à Logística com dados simulados em Python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233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Henrique Pereira Hessel (RM 570574)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Suellen Pereira da Silva (RM 573862)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Arthur Zeferino (RM 570858)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Israel Carneiro de Toledo (RM 573854)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Semestre, Tecnólogo em Inteligência Artificial  |  Professor: Me. Eng. Rodolfo Magliari de Paiva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Introdução e Justificativa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problema escolhemos e por que ele precisa de probabilidade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81328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transportadora promete entregar em até 60 minutos. Só que trânsito, chuva e distância mudam esse tempo, então ninguém tem certeza se vai dar. Quando a certeza não existe, a saída é calcular a chance de acontecer. É isso que os dois temas fazem, e é assim que um programa de computador consegue prever.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2971800"/>
            <a:ext cx="6492240" cy="749808"/>
          </a:xfrm>
          <a:prstGeom prst="roundRect">
            <a:avLst>
              <a:gd name="adj" fmla="val 975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3163824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31638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3044952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</a:t>
            </a:r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Transportadora urbana com SLA de 60 minutos por entrega.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831336"/>
            <a:ext cx="6492240" cy="749808"/>
          </a:xfrm>
          <a:prstGeom prst="roundRect">
            <a:avLst>
              <a:gd name="adj" fmla="val 975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4023360"/>
            <a:ext cx="365760" cy="365760"/>
          </a:xfrm>
          <a:prstGeom prst="ellipse">
            <a:avLst/>
          </a:prstGeom>
          <a:solidFill>
            <a:srgbClr val="D1495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904488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</a:t>
            </a:r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fatores elevam o risco de atraso e qual a chance de estourar o prazo?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690872"/>
            <a:ext cx="6492240" cy="749808"/>
          </a:xfrm>
          <a:prstGeom prst="roundRect">
            <a:avLst>
              <a:gd name="adj" fmla="val 975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488289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4882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4764024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</a:t>
            </a:r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programa em Python que calcula a chance de atraso de cada entrega.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5550408"/>
            <a:ext cx="6492240" cy="749808"/>
          </a:xfrm>
          <a:prstGeom prst="roundRect">
            <a:avLst>
              <a:gd name="adj" fmla="val 975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5742432"/>
            <a:ext cx="365760" cy="365760"/>
          </a:xfrm>
          <a:prstGeom prst="ellipse">
            <a:avLst/>
          </a:prstGeom>
          <a:solidFill>
            <a:srgbClr val="D1495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5742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5623560"/>
            <a:ext cx="5577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Dados: </a:t>
            </a:r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 entregas criadas pelo próprio código, sempre iguais por causa da semente fixa.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60920" y="1481328"/>
            <a:ext cx="4251960" cy="4572000"/>
          </a:xfrm>
          <a:prstGeom prst="roundRect">
            <a:avLst>
              <a:gd name="adj" fmla="val 1720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8096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VAMOS RESPONDER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680960" y="2148840"/>
            <a:ext cx="3657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Qual a probabilidade de uma entrega atrasar?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Quanto a chuva aumenta esse risco?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O tempo de entrega segue uma Normal?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Dá para prever o atraso antes de ele acontecer?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Qual mudança na operação reduz mais o risco?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Probabilidade: conceitos e fórmulas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1: as três fórmulas que usamos no trabalho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536192"/>
            <a:ext cx="6675120" cy="1481328"/>
          </a:xfrm>
          <a:prstGeom prst="roundRect">
            <a:avLst>
              <a:gd name="adj" fmla="val 4938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1627632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956816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14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P(A) = casos favoráveis / casos possíveis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Quantas vezes o evento aconteceu, dividido pelo total.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60604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</a:t>
            </a:r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dado comum, a chance de sair 6 é 1 em 6, ou seja, 16,7%.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108960"/>
            <a:ext cx="6675120" cy="1481328"/>
          </a:xfrm>
          <a:prstGeom prst="roundRect">
            <a:avLst>
              <a:gd name="adj" fmla="val 4938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" y="320040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 condicional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352958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14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P(A|B) = P(A e B) / P(B)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386791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chance de algo acontecer quando já sabemos que outra coisa aconteceu.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17880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</a:t>
            </a:r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alguém já disse que saiu número par, a chance de ser 6 sobe para 1 em 3.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681728"/>
            <a:ext cx="6675120" cy="1481328"/>
          </a:xfrm>
          <a:prstGeom prst="roundRect">
            <a:avLst>
              <a:gd name="adj" fmla="val 4938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477316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Teorema de Bayes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510235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14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P(B|A) = P(A|B) x P(B) / P(A)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544068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a pergunta do avesso: a partir do resultado, descobre a causa provável.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5751576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Exemplo: </a:t>
            </a:r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médico vê a febre e calcula qual doença é a causa mais provável.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543800" y="1572768"/>
            <a:ext cx="4069080" cy="2139696"/>
          </a:xfrm>
          <a:prstGeom prst="roundRect">
            <a:avLst>
              <a:gd name="adj" fmla="val 3419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18120" y="17739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BÁSICAS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157984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chance fica entre 0 e 1 (0% e 100%)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soma de todas as possibilidades dá 1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e B não acontecem juntos, somam-se as chances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543800" y="393192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isso é usado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543800" y="4315968"/>
            <a:ext cx="4069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Aplicativo que avisa se vai chover hoje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que separa e-mail de spam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que avalia risco de um empréstimo</a:t>
            </a:r>
            <a:endParaRPr lang="en-US" sz="13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e YouTube sugerindo o próximo vídeo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de dados: números pseudoaleatórios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 entregas criadas pelo próprio programa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36192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computador não sorteia de verdade. Ele segue uma conta que parte de um número inicial, a semente, e devolve valores que parecem sorteados. Como a semente está fixa em 42, rodar o código hoje ou amanhã dá exatamente o mesmo resultado.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670048"/>
            <a:ext cx="5943600" cy="2286000"/>
          </a:xfrm>
          <a:prstGeom prst="roundRect">
            <a:avLst>
              <a:gd name="adj" fmla="val 2400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779776"/>
            <a:ext cx="56509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rng = np.random.default_rng(42)   # semente fixa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distancia = np.clip(rng.normal(12, 4, n), 1, None)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chuva     = rng.binomial(1, 0.30, n)   # Bernoulli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pico      = rng.binomial(1, 0.40, n)   # Bernoulli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 = (6 + 3.0*distancia + 12*chuva + 9*pico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rng.normal(0, 7, n))        # ruido Normal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df['atraso'] = (df['tempo_min'] &gt; 60).astype(int)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3892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Parece sorteio, mas é repetível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546811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como um baralho embaralhado sempre da mesma forma: o resultado parece sorteado, mas qualquer pessoa consegue repetir o mesmo embaralhamento e conferir nossas contas.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12280" y="1536192"/>
            <a:ext cx="4800600" cy="2011680"/>
          </a:xfrm>
          <a:prstGeom prst="roundRect">
            <a:avLst>
              <a:gd name="adj" fmla="val 3636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49440" y="175564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23042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entregas simuladas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175564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23042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semente (seed)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9966960" y="175564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966960" y="23042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variáveis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3017520"/>
            <a:ext cx="4800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 da base gerada (df.head)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3419856"/>
          <a:ext cx="4800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22960"/>
                <a:gridCol w="777240"/>
                <a:gridCol w="96012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distância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13,22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15,76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12,51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6812280" y="53492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última coluna é o que queremos prever: vale 1 quando o tempo passa de 60 minutos.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Probabilidade condicional na prática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Rodando o código: o risco muda muito de um cenário para outro</a:t>
            </a:r>
            <a:endParaRPr lang="en-US" sz="1400" dirty="0"/>
          </a:p>
        </p:txBody>
      </p:sp>
      <p:pic>
        <p:nvPicPr>
          <p:cNvPr id="6" name="Image 0" descr="/home/user/Projeto-Python/checkpoint4/graficos/g1_probabilidade_condicio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6858000" cy="3840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5440680"/>
            <a:ext cx="6858000" cy="502920"/>
          </a:xfrm>
          <a:prstGeom prst="roundRect">
            <a:avLst>
              <a:gd name="adj" fmla="val 10909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9224" y="5550408"/>
            <a:ext cx="65653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P(atraso | chuva) = df.loc[df['chuva']==1,'atraso'].mean()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635240" y="1481328"/>
            <a:ext cx="3977640" cy="4480560"/>
          </a:xfrm>
          <a:prstGeom prst="roundRect">
            <a:avLst>
              <a:gd name="adj" fmla="val 1839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170078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DOS RESULTADOS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21031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P(atraso)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0" y="21031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22,5%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25603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 | sem chuva)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0515600" y="2560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14,3%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30175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 | chuva)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3017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41,0%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09560" y="34747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 | pico)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34747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36,1%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909560" y="393192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P(atraso | chuva e pico)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39319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64,7%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909560" y="45720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relativo da chuva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7909560" y="48463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2,87×</a:t>
            </a:r>
            <a:endParaRPr lang="en-US" sz="320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541324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chuva, a chance de perder o prazo quase triplica.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Teorema de Bayes na prática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“está chovendo, qual a chance de atrasar?” para “atrasou, o que provavelmente aconteceu?”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45952" cy="1143000"/>
          </a:xfrm>
          <a:prstGeom prst="roundRect">
            <a:avLst>
              <a:gd name="adj" fmla="val 6400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572768"/>
            <a:ext cx="110459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P(chuva | atraso)  =  P(atraso | chuva) · P(chuva) / P(atraso)  =  0,410 · 0,307 / 0,225  =  0,560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66928" y="2971800"/>
            <a:ext cx="2624328" cy="1965960"/>
          </a:xfrm>
          <a:prstGeom prst="roundRect">
            <a:avLst>
              <a:gd name="adj" fmla="val 3721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8096" y="3127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já sabemos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P(atraso | chuva) = 0,410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398678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entregas com chuva, 41% atrasaram.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92424" y="2971800"/>
            <a:ext cx="2624328" cy="1965960"/>
          </a:xfrm>
          <a:prstGeom prst="roundRect">
            <a:avLst>
              <a:gd name="adj" fmla="val 3721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93592" y="3127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Chance de chover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P(chuva) = 0,307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398678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Choveu em 30,7% das entregas da base.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971800"/>
            <a:ext cx="2624328" cy="1965960"/>
          </a:xfrm>
          <a:prstGeom prst="roundRect">
            <a:avLst>
              <a:gd name="adj" fmla="val 3721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19088" y="3127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Chance de atrasar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19088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P(atraso) = 0,225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19088" y="398678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22,5% de todas as entregas atrasaram.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043416" y="2971800"/>
            <a:ext cx="2624328" cy="1965960"/>
          </a:xfrm>
          <a:prstGeom prst="roundRect">
            <a:avLst>
              <a:gd name="adj" fmla="val 3721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44584" y="312724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Resposta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44584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P(chuva | atraso) = 0,560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244584" y="3986784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entregas que atrasaram, 56% foram em dia de chuva.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212080"/>
            <a:ext cx="11045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Conferindo no código: </a:t>
            </a:r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contamos na base quantas entregas atrasadas tiveram chuva e deu 0,560, exatamente o mesmo valor da fórmula.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Normal do tempo de entrega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2: a curva em formato de sino</a:t>
            </a:r>
            <a:endParaRPr lang="en-US" sz="1400" dirty="0"/>
          </a:p>
        </p:txBody>
      </p:sp>
      <p:pic>
        <p:nvPicPr>
          <p:cNvPr id="6" name="Image 0" descr="/home/user/Projeto-Python/checkpoint4/graficos/g2_normal_ajus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36192"/>
            <a:ext cx="6903720" cy="3794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5413248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altura das pessoas e as notas de uma prova se comportam assim: a maioria fica perto da média e poucos ficam nos extremos. Com o tempo de entrega acontece o mesmo.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680960" y="1536192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80960" y="153619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f(x) = 1/(σ√2π) · e^(−(x−μ)²/2σ²)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680960" y="2578608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0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48,9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27355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 μ (min)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9646920" y="2724912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15,4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646920" y="3273552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desvio σ (min)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680960" y="418795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Chance de passar dos 60 minutos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680960" y="4535424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27264" y="4645152"/>
            <a:ext cx="36393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(60 − 48,94) / 15,42 = 0,717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P(T &gt; 60) = 1 − Φ(0,717) = 23,7%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Empírico na base ......... = 22,5%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0" y="559612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também mostra que prometer 75 minutos daria conta de 95% das entregas.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essa curva aparece tanto?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Conferindo se os dados realmente seguem a curva Normal</a:t>
            </a:r>
            <a:endParaRPr lang="en-US" sz="1400" dirty="0"/>
          </a:p>
        </p:txBody>
      </p:sp>
      <p:pic>
        <p:nvPicPr>
          <p:cNvPr id="6" name="Image 0" descr="/home/user/Projeto-Python/checkpoint4/graficos/g3_teorema_central_lim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315200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39319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primeiro gráfico os dados são bem tortos, nada parecido com um sino. Mas quando tiramos médias de grupos de 5 e depois de 50, o desenho vai virando o sino da Normal. Por isso essa curva aparece em quase tudo.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8463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 empírica 68-95-99,7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12080"/>
          <a:ext cx="4206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17320"/>
                <a:gridCol w="14173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Intervalo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Teórico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 ± 1σ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68,27%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67,00%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 ± 2σ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95,45%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 ± 3σ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99,73%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99,80%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029200" y="4846320"/>
            <a:ext cx="2788920" cy="1371600"/>
          </a:xfrm>
          <a:prstGeom prst="roundRect">
            <a:avLst>
              <a:gd name="adj" fmla="val 5333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230368" y="497433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Shapiro-Wilk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230368" y="52669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0,995  |  p = 0,093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5230368" y="554126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de p ficou acima de 0,05, então os dados combinam com a Normal.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92440" y="1554480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366760" y="1783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CURVA NORMAL É USADA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19456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inicial de redes neurais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Deixar variáveis na mesma escala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que usamos no próximo slide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valores fora do normal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que geram imagens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Margem de erro de pesquisas e testes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Classificador Naive Bayes Gaussiano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que junta os dois temas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36192"/>
            <a:ext cx="5760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aprende como é cada grupo, entregas no prazo e entregas atrasadas: distância média, quanto chove e quanto pega horário de pico. Diante de uma entrega nova, compara com os dois grupos, escolhe o mais parecido e diz em quantos por cento confia.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2971800"/>
            <a:ext cx="5760720" cy="658368"/>
          </a:xfrm>
          <a:prstGeom prst="roundRect">
            <a:avLst>
              <a:gd name="adj" fmla="val 11111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97180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P(grupo | dados) = P(grupo) x P(dados | grupo)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4760"/>
            <a:ext cx="57607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Treinamos com 70% das entregas e testamos nas outras 30%.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nome “naive”, ingênuo, vem de tratar as colunas como independentes.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curva Normal entra para medir o quanto a distância combina com cada grupo.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resposta vem em porcentagem, não só um sim ou não.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29400" y="1536192"/>
            <a:ext cx="4983480" cy="4160520"/>
          </a:xfrm>
          <a:prstGeom prst="roundRect">
            <a:avLst>
              <a:gd name="adj" fmla="val 1319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75704" y="1645920"/>
            <a:ext cx="4690872" cy="3941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densidade_normal(x, mu, sigma):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(1/(sigma*np.sqrt(2*np.pi))) * \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np.exp(-((x-mu)**2)/(2*sigma**2))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prever(X):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posterioris = []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classe in [0, 1]: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 = parametros[classe]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veros = densidade_normal(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X, p['media'], p['desvio']).prod(axis=1)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posterioris.append(p['priori'] * veros)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 = np.vstack(posterioris)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 = post / post.sum(axis=0)   # normaliza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post.argmax(axis=0), post[1]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629400" y="58064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mesmo raciocínio de olhar uma fruta e dizer se é laranja ou limão pelo tamanho e pela cor: comparamos com o que já vimos antes de cada uma.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e simulação de cenários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Testamos em 300 entregas que o modelo nunca tinha visto</a:t>
            </a:r>
            <a:endParaRPr lang="en-US" sz="1400" dirty="0"/>
          </a:p>
        </p:txBody>
      </p:sp>
      <p:pic>
        <p:nvPicPr>
          <p:cNvPr id="6" name="Image 0" descr="/home/user/Projeto-Python/checkpoint4/graficos/g4_naive_bay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7223760" cy="2697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434340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446227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87,3%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50109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6000" y="434340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446227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89,1%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2286000" y="50109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Precisão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114800" y="434340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0" y="446227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55,4%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0" y="50109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43600" y="434340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0" y="446227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0,683</a:t>
            </a:r>
            <a:endParaRPr lang="en-US" sz="34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0" y="5010912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5532120"/>
            <a:ext cx="7223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modelo avisa que vai atrasar, ele quase sempre acerta. O ponto fraco é deixar escapar algumas entregas que atrasaram por pouco.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7955280" y="1517904"/>
            <a:ext cx="3657600" cy="4617720"/>
          </a:xfrm>
          <a:prstGeom prst="roundRect">
            <a:avLst>
              <a:gd name="adj" fmla="val 2000"/>
            </a:avLst>
          </a:prstGeom>
          <a:solidFill>
            <a:srgbClr val="EDF3F7"/>
          </a:solidFill>
          <a:ln w="12700">
            <a:solidFill>
              <a:srgbClr val="EDF3F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83880" y="17190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PARA NOVAS ENTREGAS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183880" y="21488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km, tempo bom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0332720" y="21488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0,0%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8183880" y="271576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km, com chuva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0332720" y="271576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8183880" y="328269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km, horário de pico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10332720" y="3282696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69,9%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183880" y="384962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km, chuva e pico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10332720" y="38496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D14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97,7%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8183880" y="4572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Uso na operação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183880" y="490118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Sabendo o risco de cada pedido antes de sair, a empresa pode mandar outro veículo, mudar a rota ou avisar o cliente antes do prazo estourar.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Simulação de Monte Carlo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Testando mudanças na operação antes de aplicá-las</a:t>
            </a:r>
            <a:endParaRPr lang="en-US" sz="1400" dirty="0"/>
          </a:p>
        </p:txBody>
      </p:sp>
      <p:pic>
        <p:nvPicPr>
          <p:cNvPr id="6" name="Image 0" descr="/home/user/Projeto-Python/checkpoint4/graficos/g5_monte_car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7132320" cy="3611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" y="5303520"/>
            <a:ext cx="7132320" cy="658368"/>
          </a:xfrm>
          <a:prstGeom prst="roundRect">
            <a:avLst>
              <a:gd name="adj" fmla="val 8333"/>
            </a:avLst>
          </a:prstGeom>
          <a:solidFill>
            <a:srgbClr val="0E2233"/>
          </a:solidFill>
          <a:ln w="12700">
            <a:solidFill>
              <a:srgbClr val="0E22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9224" y="5413248"/>
            <a:ext cx="6839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amostras = rng.normal(mu, sigma, 20000)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CE9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risco = (amostras &gt; 60).mean()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909560" y="1554480"/>
            <a:ext cx="3703320" cy="2148840"/>
          </a:xfrm>
          <a:prstGeom prst="roundRect">
            <a:avLst>
              <a:gd name="adj" fmla="val 3404"/>
            </a:avLst>
          </a:prstGeom>
          <a:solidFill>
            <a:srgbClr val="FBE9EC"/>
          </a:solidFill>
          <a:ln w="12700">
            <a:solidFill>
              <a:srgbClr val="FBE9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38160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 DO RISCO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20574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23,7% → 6,8%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2724912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Fazendo as duas mudanças juntas, o risco cai 17 pontos. Em cada 100 mil entregas, são cerca de 17 mil atrasos a menos.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3886200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Leitura dos cenários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909560" y="4251960"/>
            <a:ext cx="3703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Ganhar tempo médio ajudou mais do que reduzir a variação.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mudanças juntas derrubam o risco a menos de um terço.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Simular no computador evita testar a mudança direto na rua.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4572000"/>
            <a:ext cx="3291840" cy="3291840"/>
          </a:xfrm>
          <a:prstGeom prst="ellipse">
            <a:avLst/>
          </a:prstGeom>
          <a:solidFill>
            <a:srgbClr val="1C7293">
              <a:alpha val="3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070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dos resultados e benefícios da solução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2E3A73"/>
          </a:solidFill>
          <a:ln w="12700">
            <a:solidFill>
              <a:srgbClr val="2E3A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084832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06654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média escondia o risco real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5420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Olhando só o total, 22,5% das entregas atrasam. Separando por cenário, o risco chega a 64,7%. A probabilidade mostrou onde estava o problema.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8288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2E3A73"/>
          </a:solidFill>
          <a:ln w="12700">
            <a:solidFill>
              <a:srgbClr val="2E3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0" y="2084832"/>
            <a:ext cx="384048" cy="384048"/>
          </a:xfrm>
          <a:prstGeom prst="ellipse">
            <a:avLst/>
          </a:prstGeom>
          <a:solidFill>
            <a:srgbClr val="D1495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206654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curva Normal descreveu o tempo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25420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média de 48,9 e desvio de 15,4 minutos, a curva calculou 23,7% de risco, bem perto dos 22,5% que realmente aconteceram.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3886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2E3A73"/>
          </a:solidFill>
          <a:ln w="12700">
            <a:solidFill>
              <a:srgbClr val="2E3A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142232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012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12394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fórmula ao programa que prevê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5994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Usando só as fórmulas dos slides, o modelo acertou 87,3% das entregas de teste, que ele nunca tinha visto antes.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3886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2E3A73"/>
          </a:solidFill>
          <a:ln w="12700">
            <a:solidFill>
              <a:srgbClr val="2E3A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0" y="4142232"/>
            <a:ext cx="384048" cy="384048"/>
          </a:xfrm>
          <a:prstGeom prst="ellipse">
            <a:avLst/>
          </a:prstGeom>
          <a:solidFill>
            <a:srgbClr val="D1495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412394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ganho para a empresa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459943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simulação, o risco cai de 23,7% para 6,8%. Isso significa menos multa por atraso, menos retrabalho e cliente mais satisfeito.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0807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C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próximo passo, o mesmo modelo poderia ser testado com dados reais da empresa e comparado com outros métodos.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329184"/>
            <a:ext cx="10332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Bibliografia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969264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 segundo as normas da ABNT (NBR 6023)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11045952" cy="585216"/>
          </a:xfrm>
          <a:prstGeom prst="roundRect">
            <a:avLst>
              <a:gd name="adj" fmla="val 7813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49047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BUSSAB, Wilson de O.; MORETTIN, Pedro A. Estatística básica. 9. ed. São Paulo: Saraiva, 2017.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0253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MONTGOMERY, Douglas C.; RUNGER, George C. Estatística aplicada e probabilidade para engenheiros. 7. ed. Rio de Janeiro: LTC, 2021.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487168"/>
            <a:ext cx="11045952" cy="585216"/>
          </a:xfrm>
          <a:prstGeom prst="roundRect">
            <a:avLst>
              <a:gd name="adj" fmla="val 7813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1460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FÁVERO, Luiz Paulo; BELFIORE, Patrícia. Manual de análise de dados: estatística e modelagem multivariada. Rio de Janeiro: LTC, 2017.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026664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JAMES, Gareth et al. An introduction to statistical learning: with applications in Python. Cham: Springer, 2023.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11045952" cy="585216"/>
          </a:xfrm>
          <a:prstGeom prst="roundRect">
            <a:avLst>
              <a:gd name="adj" fmla="val 7813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538728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GÉRON, Aurélien. Mãos à obra: aprendizado de máquina com Scikit-Learn, Keras &amp; TensorFlow. 2. ed. Rio de Janeiro: Alta Books, 2021.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05079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MCKINNEY, Wes. Python para análise de dados: tratamento de dados com Pandas, NumPy e Jupyter. 3. ed. São Paulo: Novatec, 2023.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535424"/>
            <a:ext cx="11045952" cy="585216"/>
          </a:xfrm>
          <a:prstGeom prst="roundRect">
            <a:avLst>
              <a:gd name="adj" fmla="val 7813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62856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DEVELOPERS. NumPy documentation: random sampling (numpy.random). Disponível em: https://numpy.org/doc/stable/reference/random/index.html. Acesso em: 10 set. 2026.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0749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 COMMUNITY. SciPy documentation: statistical functions (scipy.stats). Disponível em: https://docs.scipy.org/doc/scipy/reference/stats.html. Acesso em: 10 set. 2026.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5559552"/>
            <a:ext cx="11045952" cy="585216"/>
          </a:xfrm>
          <a:prstGeom prst="roundRect">
            <a:avLst>
              <a:gd name="adj" fmla="val 7813"/>
            </a:avLst>
          </a:prstGeom>
          <a:solidFill>
            <a:srgbClr val="F4F8FB"/>
          </a:solidFill>
          <a:ln w="12700">
            <a:solidFill>
              <a:srgbClr val="F4F8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586984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ANTHROPIC. Claude: modelo de linguagem de grande porte. Versão Opus 5. San Francisco: Anthropic, 2026. Disponível em: https://claude.ai. Acesso em: 10 set. 2026. Utilizado como apoio na estruturação da apresentação e na revisão do código.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199632"/>
            <a:ext cx="11045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Código-fonte completo no arquivo codigo_cp4.py, executado em Python 3.11 com NumPy, pandas, SciPy e Matplotlib.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Checkpoint 4 - Probabilidade e Distribuicao Normal na IA</dc:title>
  <dc:subject>PptxGenJS Presentation</dc:subject>
  <dc:creator>Equipe Perceptron - FIAP</dc:creator>
  <cp:lastModifiedBy>Equipe Perceptron - FIAP</cp:lastModifiedBy>
  <cp:revision>1</cp:revision>
  <dcterms:created xsi:type="dcterms:W3CDTF">2026-09-10T21:20:39Z</dcterms:created>
  <dcterms:modified xsi:type="dcterms:W3CDTF">2026-09-10T21:20:39Z</dcterms:modified>
</cp:coreProperties>
</file>