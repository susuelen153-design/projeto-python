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noite, professor. Somos a equipe Perceptron e vamos apresentar dois temas: Probabilidade e a IA, e Distribuicao Normal e a IA, aplicados a um problema de logistica: prever atrasos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contexto: SLA de 60 minutos, incerteza operacional. Reforcar que usamos dados simulados justamente para garantir reprodutibilidade. Ler as 5 perguntas do painel azul, que sao o roteiro da apresentacao.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tres formulas. Enfatizar que Bayes e o coracao do modelo que mostraremos adiante: ele inverte a pergunta - em vez de P(atraso dado chuva), permite calcular a classe mais provavel dado o que observamos.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conceito de pseudoaleatoriedade e a importancia da seed. Mostrar que cada variavel vem de uma distribuicao: Bernoulli para eventos binarios, Normal para grandezas continuas. Destacar a linha do tempo de entrega, que soma efeitos + ruido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probabilidade condicional e o que transforma um numero medio em informacao acionavel: 22,5% na media, mas 64,7% quando chove no horario de pico. Esse e o tipo de padrao que a IA aprende.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termo do teorema apontando para os quatro cartoes. Fechar mostrando que a formula bate com a frequencia empirica - e a prova de que o raciocinio bayesiano descreve corretamente o fenomeno.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formula da densidade e o escore z. O ponto principal: a area vermelha sob a curva a direita do SLA e a probabilidade de atraso, 23,7%, praticamente igual aos 22,5% observados. Citar o percentil 95 como aplicacao gerencial direta.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TCL com os tres graficos: populacao assimetrica, medias com n=5 ja mais simetricas, n=50 praticamente normais. Depois mostrar o teste de Shapiro-Wilk e a regra empirica como validacao. Fechar com a lista de usos da Normal dentro da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slide central: mostrar que a funcao densidade_normal e literalmente a formula da Normal, e que prever() e o Teorema de Bayes aplicado. Ou seja, os dois temas da apresentacao viram codigo executavel.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matriz de confusao: 221 acertos no prazo, 41 atrasos detectados, 33 nao detectados, apenas 5 alarmes falsos. Depois mostrar a tabela de cenarios simulados: o modelo responde em probabilidade, permitindo agir antes do atraso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Monte Carlo: repetir o experimento milhares de vezes com numeros pseudoaleatorios para estimar probabilidades de cenarios que ainda nao aconteceram. Destacar o resultado: o risco cai de 23,7% para 6,8%.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amarrando os dois temas: probabilidade mostrou onde esta o risco, a Normal permitiu quantifica-lo, e juntas viraram um modelo de IA com beneficio mensuravel para a operacao.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as referencias principais e informar que o codigo-fonte completo esta no arquivo .py entregue junto com 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A1A1A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ED1165">
              <a:alpha val="28000"/>
            </a:srgbClr>
          </a:solidFill>
          <a:ln/>
        </p:spPr>
      </p:sp>
      <p:pic>
        <p:nvPicPr>
          <p:cNvPr id="4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1554480" cy="7333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81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CHECKPOINT 4  |  STATISTICAL COMPUTING WITH R &amp; PYTHON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9326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Probabilidade e Distribuição Normal aplicadas à Inteligência Artificial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564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8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 atrasos em entregas: estudo aplicado à Logística com dados simulados em Python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35424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Giovanni Henrique Pereira Hessel (RM 570574)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Suellen Pereira da Silva (RM 573862)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Arthur Zeferino (RM 570858)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Israel Carneiro de Toledo (RM 573854)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Semestre, Tecnólogo em Inteligência Artificial  |  Professor: Me. Eng. Rodolfo Magliari de Paiva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e Justificativa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problema escolhemos e por que ele precisa de probabilidade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481328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transportadora promete entregar em até 60 minutos. Só que trânsito, chuva e distância mudam esse tempo, então ninguém tem certeza se vai dar. Quando a certeza não existe, a saída é calcular a chance de acontecer. É isso que os dois temas fazem, e é assim que um programa de computador consegue prever.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2971800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163824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304495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Transportadora urbana com SLA de 60 minutos por entrega.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831336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4023360"/>
            <a:ext cx="365760" cy="365760"/>
          </a:xfrm>
          <a:prstGeom prst="ellipse">
            <a:avLst/>
          </a:prstGeom>
          <a:solidFill>
            <a:srgbClr val="ED116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980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61872" y="39044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Quais fatores elevam o risco de atraso e qual a chance de estourar o prazo?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4690872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4882896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9808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61872" y="476402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programa em Python que calcula a chance de atraso de cada entrega.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" y="5550408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5742432"/>
            <a:ext cx="365760" cy="365760"/>
          </a:xfrm>
          <a:prstGeom prst="ellipse">
            <a:avLst/>
          </a:prstGeom>
          <a:solidFill>
            <a:srgbClr val="ED116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9808" y="5742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61872" y="562356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 entregas criadas pelo próprio código, sempre iguais por causa da semente fixa.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60920" y="1481328"/>
            <a:ext cx="4251960" cy="4572000"/>
          </a:xfrm>
          <a:prstGeom prst="roundRect">
            <a:avLst>
              <a:gd name="adj" fmla="val 172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RESPONDER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0" y="2148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 Qual a probabilidade de uma entrega atrasar?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 Quanto a chuva aumenta esse risco?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 O tempo de entrega segue uma Normal?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 Dá para prever o atraso antes de ele acontecer?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 Qual mudança na operação reduz mais o risco?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Probabilidade: conceitos e fórmulas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1: as três fórmulas que usamos no trabalho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536192"/>
            <a:ext cx="667512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62763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Probabilidade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19568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11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P(A) = casos favoráveis / casos possíveis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9514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Quantas vezes o evento aconteceu, dividido pelo total.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6060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 dado comum, a chance de sair 6 é 1 em 6, ou seja, 16,7%.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108960"/>
            <a:ext cx="667512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2004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Probabilidade condicional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52958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11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P(A|B) = P(A e B) / P(B)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8679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chance de algo acontecer quando já sabemos que outra coisa aconteceu.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" y="417880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alguém já disse que saiu número par, a chance de ser 6 sobe para 1 em 3.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4681728"/>
            <a:ext cx="667512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7731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Teorema de Bayes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1023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11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P(B|A) = P(A|B) x P(B) / P(A)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54406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 a pergunta do avesso: a partir do resultado, descobre a causa provável.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41248" y="57515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médico vê a febre e calcula qual doença é a causa mais provável.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43800" y="1572768"/>
            <a:ext cx="4069080" cy="2139696"/>
          </a:xfrm>
          <a:prstGeom prst="roundRect">
            <a:avLst>
              <a:gd name="adj" fmla="val 341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1812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BÁSICAS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818120" y="2157984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chance fica entre 0 e 1 (0% e 100%)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soma de todas as possibilidades dá 1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e B não acontecem juntos, somam-se as chances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39319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isso é usado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4315968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Aplicativo que avisa se vai chover hoje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 que separa e-mail de spam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que avalia risco de um empréstimo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Netflix e YouTube sugerindo o próximo vídeo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base de dados: números pseudoaleatórios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 entregas criadas pelo próprio programa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3619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computador não sorteia de verdade. Ele segue uma conta que parte de um número inicial, a semente, e devolve valores que parecem sorteados. Como a semente está fixa em 42, rodar o código hoje ou amanhã dá exatamente o mesmo resultado.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670048"/>
            <a:ext cx="5943600" cy="2286000"/>
          </a:xfrm>
          <a:prstGeom prst="roundRect">
            <a:avLst>
              <a:gd name="adj" fmla="val 24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779776"/>
            <a:ext cx="56509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np.random.default_rng(42)   # semente fixa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 = np.clip(rng.normal(12, 4, n), 1, None)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chuva     = rng.binomial(1, 0.30, n)   # Bernoulli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      = rng.binomial(1, 0.40, n)   # Bernoulli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= (6 + 3.0*distancia + 12*chuva + 9*pico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rng.normal(0, 7, n))        # ruido Normal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df['atraso'] = (df['tempo_min'] &gt; 60).astype(int)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1389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Parece sorteio, mas é repetível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4681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como um baralho embaralhado sempre da mesma forma: o resultado parece sorteado, mas qualquer pessoa consegue repetir o mesmo embaralhamento e conferir nossas contas.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12280" y="1536192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17556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1.000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entregas simuladas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17556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semente (seed)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966960" y="17556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017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Amostra da base gerada (df.head)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3419856"/>
          <a:ext cx="4800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22960"/>
                <a:gridCol w="777240"/>
                <a:gridCol w="9601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distância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chuva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pico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atraso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13,22 km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49,9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15,76 km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69,5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4,20 km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27,2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12,51 km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48,4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812280" y="53492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última coluna é o que queremos prever: vale 1 quando o tempo passa de 60 minutos.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Probabilidade condicional na prática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Rodando o código: o risco muda muito de um cenário para outro</a:t>
            </a:r>
            <a:endParaRPr lang="en-US" sz="1400" dirty="0"/>
          </a:p>
        </p:txBody>
      </p:sp>
      <p:pic>
        <p:nvPicPr>
          <p:cNvPr id="7" name="Image 1" descr="/home/user/Projeto-Python/checkpoint4/graficos/g1_probabilidade_condicio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858000" cy="3840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440680"/>
            <a:ext cx="685800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" y="5550408"/>
            <a:ext cx="6565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P(atraso | chuva) = df.loc[df['chuva']==1,'atraso'].mean()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635240" y="1481328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0956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DOS RESULTADOS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90956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P(atraso)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2103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22,5%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25603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P(atraso | sem chuva)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0" y="2560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14,3%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909560" y="3017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P(atraso | chuva)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0" y="3017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41,0%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3474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P(atraso | pico)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515600" y="34747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36,1%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0" y="3931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P(atraso | chuva e pico)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515600" y="3931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64,7%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4572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 relativo da chuva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909560" y="4846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2,87×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7909560" y="5413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chuva, a chance de perder o prazo quase triplica.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Teorema de Bayes na prática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“está chovendo, qual a chance de atrasar?” para “atrasou, o que provavelmente aconteceu?”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11045952" cy="1143000"/>
          </a:xfrm>
          <a:prstGeom prst="roundRect">
            <a:avLst>
              <a:gd name="adj" fmla="val 64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572768"/>
            <a:ext cx="11045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P(chuva | atraso)  =  P(atraso | chuva) · P(chuva) / P(atraso)  =  0,410 · 0,307 / 0,225  =  0,560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66928" y="29718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já sabemos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3456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P(atraso | chuva) = 0,410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398678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 entregas com chuva, 41% atrasaram.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92424" y="29718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93592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Chance de chover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93592" y="3456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P(chuva) = 0,307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93592" y="398678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Choveu em 30,7% das entregas da base.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29718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Chance de atrasar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19088" y="3456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P(atraso) = 0,225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398678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22,5% de todas as entregas atrasaram.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43416" y="29718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44584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244584" y="3456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P(chuva | atraso) = 0,560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244584" y="398678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 entregas que atrasaram, 56% foram em dia de chuva.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5212080"/>
            <a:ext cx="11045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Conferindo no código: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contamos na base quantas entregas atrasadas tiveram chuva e deu 0,560, exatamente o mesmo valor da fórmula.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Normal do tempo de entrega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 2: a curva em formato de sino</a:t>
            </a:r>
            <a:endParaRPr lang="en-US" sz="1400" dirty="0"/>
          </a:p>
        </p:txBody>
      </p:sp>
      <p:pic>
        <p:nvPicPr>
          <p:cNvPr id="7" name="Image 1" descr="/home/user/Projeto-Python/checkpoint4/graficos/g2_normal_ajust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6903720" cy="3794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541324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altura das pessoas e as notas de uma prova se comportam assim: a maioria fica perto da média e poucos ficam nos extremos. Com o tempo de entrega acontece o mesmo.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153619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80960" y="15361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1/(σ√2π) · e^(−(x−μ)²/2σ²)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680960" y="2578608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48,9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 μ (min)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9646920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15,4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9646920" y="32735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desvio σ (min)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4187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Chance de passar dos 60 minutos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680960" y="4535424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27264" y="4645152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(60 − 48,94) / 15,42 = 0,717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 &gt; 60) = 1 − Φ(0,717) = 23,7%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Empírico na base ......... = 22,5%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55961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curva também mostra que prometer 75 minutos daria conta de 95% das entregas.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essa curva aparece tanto?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Conferindo se os dados realmente seguem a curva Normal</a:t>
            </a:r>
            <a:endParaRPr lang="en-US" sz="1400" dirty="0"/>
          </a:p>
        </p:txBody>
      </p:sp>
      <p:pic>
        <p:nvPicPr>
          <p:cNvPr id="7" name="Image 1" descr="/home/user/Projeto-Python/checkpoint4/graficos/g3_teorema_central_lim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315200" cy="22677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primeiro gráfico os dados são bem tortos, nada parecido com um sino. Mas quando tiramos médias de grupos de 5 e depois de 50, o desenho vai virando o sino da Normal. Por isso essa curva aparece em quase tudo.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48463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empírica 68-95-99,7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21208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Intervalo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Teórico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Observado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μ ± 1σ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68,27%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67,00%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μ ± 2σ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95,45%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95,90%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μ ± 3σ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99,73%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99,80%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029200" y="484632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230368" y="4974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Shapiro-Wilk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230368" y="5266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0,995  |  p = 0,093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5230368" y="55412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valor de p ficou acima de 0,05, então os dados combinam com a Normal.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92440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667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CURVA NORMAL É USADA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19456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inicial de redes neurais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Deixar variáveis na mesma escala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que usamos no próximo slide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Encontrar valores fora do normal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Programas que geram imagens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Margem de erro de pesquisas e testes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Classificador Naive Bayes Gaussiano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que junta os dois temas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36192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aprende como é cada grupo, entregas no prazo e entregas atrasadas: distância média, quanto chove e quanto pega horário de pico. Diante de uma entrega nova, compara com os dois grupos, escolhe o mais parecido e diz em quantos por cento confia.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97180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9718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P(grupo | dados) = P(grupo) x P(dados | grupo)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794760"/>
            <a:ext cx="5760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Treinamos com 70% das entregas e testamos nas outras 30%.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nome “naive”, ingênuo, vem de tratar as colunas como independentes.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curva Normal entra para medir o quanto a distância combina com cada grupo.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resposta vem em porcentagem, não só um sim ou não.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29400" y="1536192"/>
            <a:ext cx="4983480" cy="4160520"/>
          </a:xfrm>
          <a:prstGeom prst="roundRect">
            <a:avLst>
              <a:gd name="adj" fmla="val 131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75704" y="1645920"/>
            <a:ext cx="469087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densidade_normal(x, mu, sigma):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(1/(sigma*np.sqrt(2*np.pi))) *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np.exp(-((x-mu)**2)/(2*sigma**2))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prever(X):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posterioris = 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classe in [0, 1]: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parametros[classe]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veros = densidade_normal(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X, p['media'], p['desvio']).prod(axis=1)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posterioris.append(p['priori'] * veros)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 = np.vstack(posterioris)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 = post / post.sum(axis=0)   # normaliza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post.argmax(axis=0), post[1]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5806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mesmo raciocínio de olhar uma fruta e dizer se é laranja ou limão pelo tamanho e pela cor: comparamos com o que já vimos antes de cada uma.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e simulação de cenários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Testamos em 300 entregas que o modelo nunca tinha visto</a:t>
            </a:r>
            <a:endParaRPr lang="en-US" sz="1400" dirty="0"/>
          </a:p>
        </p:txBody>
      </p:sp>
      <p:pic>
        <p:nvPicPr>
          <p:cNvPr id="7" name="Image 1" descr="/home/user/Projeto-Python/checkpoint4/graficos/g4_naive_bay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7904"/>
            <a:ext cx="7223760" cy="2697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343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4462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87,3%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0109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Acurácia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286000" y="4343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86000" y="4462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89,1%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2286000" y="50109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0" y="4343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800" y="4462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55,4%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50109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43600" y="4343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0" y="4462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0,683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50109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5532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o modelo avisa que vai atrasar, ele quase sempre acerta. O ponto fraco é deixar escapar algumas entregas que atrasaram por pouco.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955280" y="1517904"/>
            <a:ext cx="3657600" cy="461772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18388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PARA NOVAS ENTREGAS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km, tempo bom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10332720" y="2148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0,0%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183880" y="2715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km, com chuva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0332720" y="27157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20,6%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32826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km, horário de pico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0332720" y="32826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69,9%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8183880" y="38496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km, chuva e pico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10332720" y="38496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97,7%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8183880" y="4572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na operação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8183880" y="490118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Sabendo o risco de cada pedido antes de sair, a empresa pode mandar outro veículo, mudar a rota ou avisar o cliente antes do prazo estourar.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Simulação de Monte Carlo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mudanças na operação antes de aplicá-las</a:t>
            </a:r>
            <a:endParaRPr lang="en-US" sz="1400" dirty="0"/>
          </a:p>
        </p:txBody>
      </p:sp>
      <p:pic>
        <p:nvPicPr>
          <p:cNvPr id="7" name="Image 1" descr="/home/user/Projeto-Python/checkpoint4/graficos/g5_monte_car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13232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303520"/>
            <a:ext cx="7132320" cy="658368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" y="5413248"/>
            <a:ext cx="6839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amostras = rng.normal(mu, sigma, 20000)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 = (amostras &gt; 60).mean()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909560" y="155448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1381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DO RISCO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23,7% → 6,8%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27249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Fazendo as duas mudanças juntas, o risco cai 17 pontos. Em cada 100 mil entregas, são cerca de 17 mil atrasos a menos.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388620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dos cenários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909560" y="4251960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Ganhar tempo médio ajudou mais do que reduzir a variação.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duas mudanças juntas derrubam o risco a menos de um terço.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Simular no computador evita testar a mudança direto na rua.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1A1A1A">
              <a:alpha val="30000"/>
            </a:srgbClr>
          </a:solidFill>
          <a:ln/>
        </p:spPr>
      </p:sp>
      <p:pic>
        <p:nvPicPr>
          <p:cNvPr id="3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1005840" cy="4745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dos resultados e benefícios da solução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084832"/>
            <a:ext cx="384048" cy="38404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0665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média escondia o risco real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5420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Olhando só o total, 22,5% das entregas atrasam. Separando por cenário, o risco chega a 64,7%. A probabilidade mostrou onde estava o problema.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084832"/>
            <a:ext cx="384048" cy="384048"/>
          </a:xfrm>
          <a:prstGeom prst="ellipse">
            <a:avLst/>
          </a:prstGeom>
          <a:solidFill>
            <a:srgbClr val="ED116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0665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curva Normal descreveu o tempo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25420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média de 48,9 e desvio de 15,4 minutos, a curva calculou 23,7% de risco, bem perto dos 22,5% que realmente aconteceram.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0" y="4142232"/>
            <a:ext cx="384048" cy="38404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012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41239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fórmula ao programa que prevê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5994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Usando só as fórmulas dos slides, o modelo acertou 87,3% das entregas de teste, que ele nunca tinha visto antes.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0" y="4142232"/>
            <a:ext cx="384048" cy="384048"/>
          </a:xfrm>
          <a:prstGeom prst="ellipse">
            <a:avLst/>
          </a:prstGeom>
          <a:solidFill>
            <a:srgbClr val="ED116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836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1239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para a empresa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45994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simulação, o risco cai de 23,7% para 6,8%. Isso significa menos multa por atraso, menos retrabalho e cliente mais satisfeito.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6080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próximo passo, o mesmo modelo poderia ser testado com dados reais da empresa e comparado com outros métodos.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Bibliografia</a:t>
            </a:r>
            <a:endParaRPr lang="en-US" sz="3000" dirty="0"/>
          </a:p>
        </p:txBody>
      </p:sp>
      <p:pic>
        <p:nvPicPr>
          <p:cNvPr id="5" name="Image 0" descr="/home/user/Projeto-Python/.claude/skills/fiap-doc/assets/head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02336"/>
            <a:ext cx="896112" cy="422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9692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Referências segundo as normas da ABNT (NBR 6023)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463040"/>
            <a:ext cx="11045952" cy="585216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9047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BUSSAB, Wilson de O.; MORETTIN, Pedro A. Estatística básica. 9. ed. São Paulo: Saraiva, 2017.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0253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MONTGOMERY, Douglas C.; RUNGER, George C. Estatística aplicada e probabilidade para engenheiros. 7. ed. Rio de Janeiro: LTC, 2021.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487168"/>
            <a:ext cx="11045952" cy="585216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1460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FÁVERO, Luiz Paulo; BELFIORE, Patrícia. Manual de análise de dados: estatística e modelagem multivariada. Rio de Janeiro: LTC, 2017.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2666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JAMES, Gareth et al. An introduction to statistical learning: with applications in Python. Cham: Springer, 2023.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11045952" cy="585216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5387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GÉRON, Aurélien. Mãos à obra: aprendizado de máquina com Scikit-Learn, Keras &amp; TensorFlow. 2. ed. Rio de Janeiro: Alta Books, 2021.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05079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MCKINNEY, Wes. Python para análise de dados: tratamento de dados com Pandas, NumPy e Jupyter. 3. ed. São Paulo: Novatec, 2023.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4535424"/>
            <a:ext cx="11045952" cy="585216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562856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NUMPY DEVELOPERS. NumPy documentation: random sampling (numpy.random). Disponível em: https://numpy.org/doc/stable/reference/random/index.html. Acesso em: 10 set. 2026.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0749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SCIPY COMMUNITY. SciPy documentation: statistical functions (scipy.stats). Disponível em: https://docs.scipy.org/doc/scipy/reference/stats.html. Acesso em: 10 set. 2026.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45952" cy="585216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55869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ANTHROPIC. Claude: modelo de linguagem de grande porte. Versão Opus 5. San Francisco: Anthropic, 2026. Disponível em: https://claude.ai. Acesso em: 10 set. 2026. Utilizado como apoio na estruturação da apresentação e na revisão do código.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199632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Código-fonte completo no arquivo codigo_cp4.py, executado em Python 3.11 com NumPy, pandas, SciPy e Matplotlib.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 4 - Probabilidade e Distribuicao Normal na IA</dc:title>
  <dc:subject>PptxGenJS Presentation</dc:subject>
  <dc:creator>Equipe Perceptron - FIAP</dc:creator>
  <cp:lastModifiedBy>Equipe Perceptron - FIAP</cp:lastModifiedBy>
  <cp:revision>1</cp:revision>
  <dcterms:created xsi:type="dcterms:W3CDTF">2026-09-10T21:42:50Z</dcterms:created>
  <dcterms:modified xsi:type="dcterms:W3CDTF">2026-09-10T21:42:50Z</dcterms:modified>
</cp:coreProperties>
</file>