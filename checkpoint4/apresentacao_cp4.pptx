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noite, professor. Somos a equipe Perceptron e vamos apresentar dois temas: Probabilidade e a IA, e Distribuicao Normal e a IA, aplicados a um problema de logistica: prever atrasos de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o contexto: SLA de 60 minutos, incerteza operacional. Reforcar que usamos dados simulados justamente para garantir reprodutibilidade. Ler as 5 perguntas do painel azul, que sao o roteiro da apresentacao.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as tres formulas. Enfatizar que Bayes e o coracao do modelo que mostraremos adiante: ele inverte a pergunta - em vez de P(atraso dado chuva), permite calcular a classe mais provavel dado o que observamos.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o conceito de pseudoaleatoriedade e a importancia da seed. Mostrar que cada variavel vem de uma distribuicao: Bernoulli para eventos binarios, Normal para grandezas continuas. Destacar a linha do tempo de entrega, que soma efeitos + ruido normal.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a probabilidade condicional e o que transforma um numero medio em informacao acionavel: 22,5% na media, mas 64,7% quando chove no horario de pico. Esse e o tipo de padrao que a IA aprende.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cada termo do teorema apontando para os quatro cartoes. Fechar mostrando que a formula bate com a frequencia empirica - e a prova de que o raciocinio bayesiano descreve corretamente o fenomeno.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a formula da densidade e o escore z. O ponto principal: a area vermelha sob a curva a direita do SLA e a probabilidade de atraso, 23,7%, praticamente igual aos 22,5% observados. Citar o percentil 95 como aplicacao gerencial direta.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o TCL com os tres graficos: populacao assimetrica, medias com n=5 ja mais simetricas, n=50 praticamente normais. Depois mostrar o teste de Shapiro-Wilk e a regra empirica como validacao. Fechar com a lista de usos da Normal dentro da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 o slide central: mostrar que a funcao densidade_normal e literalmente a formula da Normal, e que prever() e o Teorema de Bayes aplicado. Ou seja, os dois temas da apresentacao viram codigo executavel.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 a matriz de confusao: 221 acertos no prazo, 41 atrasos detectados, 33 nao detectados, apenas 5 alarmes falsos. Depois mostrar a tabela de cenarios simulados: o modelo responde em probabilidade, permitindo agir antes do atraso acontecer.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Monte Carlo: repetir o experimento milhares de vezes com numeros pseudoaleatorios para estimar probabilidades de cenarios que ainda nao aconteceram. Destacar o resultado: o risco cai de 23,7% para 6,8%.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amarrando os dois temas: probabilidade mostrou onde esta o risco, a Normal permitiu quantifica-lo, e juntas viraram um modelo de IA com beneficio mensuravel para a operacao.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Citar as referencias principais e informar que o codigo-fonte completo esta no arquivo .py entregue junto com o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754880" cy="4754880"/>
          </a:xfrm>
          <a:prstGeom prst="ellipse">
            <a:avLst/>
          </a:prstGeom>
          <a:solidFill>
            <a:srgbClr val="1C7293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D1495B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658368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E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4  |  STATISTICAL COMPUTING WITH R &amp; PYTHON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188720"/>
            <a:ext cx="9326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Probabilidade e Distribuição Normal aplicadas à Inteligência Artificial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de atrasos em entregas: estudo aplicado à Logística com dados simulados em Python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03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E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02336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Henrique Pereira Hessel (RM 570574)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Suellen Pereira da Silva (RM 573862)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Zeferino (RM 570858)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Israel Carneiro de Toledo (RM 573854)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 Semestre, Tecnólogo em Inteligência Artificial  |  Professor: Me. Eng. Rodolfo Magliari de Paiva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Introdução e Justificativa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probabilidade é a linguagem da Inteligência Artificial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81328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Trânsito, clima e distância mudam o tempo de cada entrega, então toda previsão de prazo carrega incerteza. Um modelo preditivo não responde com certezas, e sim com probabilidades. Entender Probabilidade e Distribuição Normal é, portanto, condição para construir e interpretar esse tipo de modelo.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2971800"/>
            <a:ext cx="6492240" cy="749808"/>
          </a:xfrm>
          <a:prstGeom prst="roundRect">
            <a:avLst>
              <a:gd name="adj" fmla="val 9756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3163824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31638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3044952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Contexto: </a:t>
            </a:r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Transportadora urbana com SLA de 60 minutos por entrega.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3831336"/>
            <a:ext cx="6492240" cy="749808"/>
          </a:xfrm>
          <a:prstGeom prst="roundRect">
            <a:avLst>
              <a:gd name="adj" fmla="val 9756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" y="4023360"/>
            <a:ext cx="365760" cy="365760"/>
          </a:xfrm>
          <a:prstGeom prst="ellipse">
            <a:avLst/>
          </a:prstGeom>
          <a:solidFill>
            <a:srgbClr val="D1495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3904488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Problema: </a:t>
            </a:r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fatores elevam o risco de atraso e qual a chance de estourar o prazo?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4690872"/>
            <a:ext cx="6492240" cy="749808"/>
          </a:xfrm>
          <a:prstGeom prst="roundRect">
            <a:avLst>
              <a:gd name="adj" fmla="val 9756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4882896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48828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4764024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Solução: </a:t>
            </a:r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probabilístico (Naive Bayes Gaussiano) escrito do zero em Python.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5550408"/>
            <a:ext cx="6492240" cy="749808"/>
          </a:xfrm>
          <a:prstGeom prst="roundRect">
            <a:avLst>
              <a:gd name="adj" fmla="val 9756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" y="5742432"/>
            <a:ext cx="365760" cy="365760"/>
          </a:xfrm>
          <a:prstGeom prst="ellipse">
            <a:avLst/>
          </a:prstGeom>
          <a:solidFill>
            <a:srgbClr val="D1495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5742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61872" y="5623560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Dados: </a:t>
            </a:r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simulada com números pseudoaleatórios (seed = 42), o que torna o estudo reprodutível.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360920" y="1481328"/>
            <a:ext cx="4251960" cy="4572000"/>
          </a:xfrm>
          <a:prstGeom prst="roundRect">
            <a:avLst>
              <a:gd name="adj" fmla="val 1720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68096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E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VAMOS RESPONDER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680960" y="2148840"/>
            <a:ext cx="3657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Qual a probabilidade de uma entrega atrasar?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Quanto a chuva aumenta esse risco?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O tempo de entrega segue uma Normal?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IA consegue prever o atraso antes de ele acontecer?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Que decisão gerencial reduz mais o risco?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Probabilidade: conceitos e fórmulas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1: a base matemática do raciocínio sob incerteza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6675120" cy="1371600"/>
          </a:xfrm>
          <a:prstGeom prst="roundRect">
            <a:avLst>
              <a:gd name="adj" fmla="val 5333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170078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Probabilidade clássica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048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14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P(A) = casos favoráveis / casos possíveis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414016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Frequência relativa do evento na base observada.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090672"/>
            <a:ext cx="6675120" cy="1371600"/>
          </a:xfrm>
          <a:prstGeom prst="roundRect">
            <a:avLst>
              <a:gd name="adj" fmla="val 5333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321868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Probabilidade condicional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35661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14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P(A|B) = P(A ∩ B) / P(B)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393192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 a chance de A quando já se sabe que B ocorreu.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608576"/>
            <a:ext cx="6675120" cy="1371600"/>
          </a:xfrm>
          <a:prstGeom prst="roundRect">
            <a:avLst>
              <a:gd name="adj" fmla="val 5333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" y="473659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Teorema de Bayes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5084064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14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P(B|A) = P(A|B) · P(B) / P(A)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5449824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Inverte a condicional e sustenta os classificadores probabilísticos.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543800" y="1572768"/>
            <a:ext cx="4069080" cy="2139696"/>
          </a:xfrm>
          <a:prstGeom prst="roundRect">
            <a:avLst>
              <a:gd name="adj" fmla="val 3419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18120" y="17739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9E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AXIOMAS DE KOLMOGOROV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818120" y="2157984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≤ P(A) ≤ 1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P(espaço amostral) = 1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 B disjuntos ⇒ P(A ∪ B) = P(A) + P(B)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7543800" y="3931920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isso aparece na IA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543800" y="4315968"/>
            <a:ext cx="4069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Classificadores como Naive Bayes e regressão logística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de redes neurais pela função softmax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de spam e sistemas de recomendação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de risco e precificação de seguros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de dados: números pseudoaleatórios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Simulação controlada de 1.000 entregas urbanas em Python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36192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computador não gera acaso verdadeiro. Um algoritmo determinístico parte de uma semente (seed) e produz uma sequência com propriedades estatísticas de aleatoriedade. Como a semente está fixa, qualquer execução devolve os mesmos números.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2670048"/>
            <a:ext cx="5943600" cy="2286000"/>
          </a:xfrm>
          <a:prstGeom prst="roundRect">
            <a:avLst>
              <a:gd name="adj" fmla="val 2400"/>
            </a:avLst>
          </a:prstGeom>
          <a:solidFill>
            <a:srgbClr val="0E2233"/>
          </a:solidFill>
          <a:ln w="12700">
            <a:solidFill>
              <a:srgbClr val="0E22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2779776"/>
            <a:ext cx="56509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rng = np.random.default_rng(42)   # semente fixa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distancia = np.clip(rng.normal(12, 4, n), 1, None)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chuva     = rng.binomial(1, 0.30, n)   # Bernoulli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pico      = rng.binomial(1, 0.40, n)   # Bernoulli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tempo = (6 + 3.0*distancia + 12*chuva + 9*pico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rng.normal(0, 7, n))        # ruido Normal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df['atraso'] = (df['tempo_min'] &gt; 60).astype(int)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38928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variável tem uma distribuição por trás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5468112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Distância ~ Normal(12; 4), Chuva ~ Bernoulli(0,30), Pico ~ Bernoulli(0,40), Erro ~ Normal(0; 7)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12280" y="1536192"/>
            <a:ext cx="4800600" cy="2011680"/>
          </a:xfrm>
          <a:prstGeom prst="roundRect">
            <a:avLst>
              <a:gd name="adj" fmla="val 3636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949440" y="175564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230428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entregas simuladas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458200" y="175564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230428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semente (seed)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9966960" y="175564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9966960" y="230428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variáveis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3017520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 da base gerada (df.head)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3419856"/>
          <a:ext cx="4800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22960"/>
                <a:gridCol w="777240"/>
                <a:gridCol w="96012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distância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atraso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13,22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15,76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12,51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6812280" y="534924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coluna alvo segue uma regra simples: atraso = 1 quando o tempo simulado ultrapassa o SLA de 60 minutos.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Probabilidade condicional na prática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Executando o código: como cada fator muda o risco de atraso</a:t>
            </a:r>
            <a:endParaRPr lang="en-US" sz="1400" dirty="0"/>
          </a:p>
        </p:txBody>
      </p:sp>
      <p:pic>
        <p:nvPicPr>
          <p:cNvPr id="6" name="Image 0" descr="/home/user/Projeto-Python/checkpoint4/graficos/g1_probabilidade_condici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6858000" cy="3840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5440680"/>
            <a:ext cx="6858000" cy="502920"/>
          </a:xfrm>
          <a:prstGeom prst="roundRect">
            <a:avLst>
              <a:gd name="adj" fmla="val 10909"/>
            </a:avLst>
          </a:prstGeom>
          <a:solidFill>
            <a:srgbClr val="0E2233"/>
          </a:solidFill>
          <a:ln w="12700">
            <a:solidFill>
              <a:srgbClr val="0E22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9224" y="5550408"/>
            <a:ext cx="65653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P(atraso | chuva) = df.loc[df['chuva']==1,'atraso'].mean()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635240" y="1481328"/>
            <a:ext cx="3977640" cy="4480560"/>
          </a:xfrm>
          <a:prstGeom prst="roundRect">
            <a:avLst>
              <a:gd name="adj" fmla="val 1839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09560" y="170078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DOS RESULTADOS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7909560" y="21031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P(atraso)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0" y="2103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22,5%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25603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P(atraso | sem chuva)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0515600" y="2560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14,3%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909560" y="30175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P(atraso | chuva)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30175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41,0%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909560" y="34747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P(atraso | pico)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34747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36,1%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7909560" y="39319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P(atraso | chuva e pico)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0515600" y="39319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64,7%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909560" y="45720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relativo da chuva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7909560" y="48463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2,87×</a:t>
            </a:r>
            <a:endParaRPr lang="en-US" sz="3200" dirty="0"/>
          </a:p>
        </p:txBody>
      </p:sp>
      <p:sp>
        <p:nvSpPr>
          <p:cNvPr id="23" name="Text 20"/>
          <p:cNvSpPr txBox="1"/>
          <p:nvPr/>
        </p:nvSpPr>
        <p:spPr>
          <a:xfrm>
            <a:off x="7909560" y="541324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chuva, a chance de estourar o prazo quase triplica.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Teorema de Bayes: invertendo a pergunta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“está chovendo, qual a chance de atrasar?” para “atrasou, o que provavelmente aconteceu?”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45952" cy="1143000"/>
          </a:xfrm>
          <a:prstGeom prst="roundRect">
            <a:avLst>
              <a:gd name="adj" fmla="val 6400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572768"/>
            <a:ext cx="110459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P(chuva | atraso)  =  P(atraso | chuva) · P(chuva) / P(atraso)  =  0,410 · 0,307 / 0,225  =  0,560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66928" y="2971800"/>
            <a:ext cx="2624328" cy="1965960"/>
          </a:xfrm>
          <a:prstGeom prst="roundRect">
            <a:avLst>
              <a:gd name="adj" fmla="val 3721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68096" y="3127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Verossimilhança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3456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P(atraso | chuva) = 0,410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3986784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base mostra sobre o efeito da chuva.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92424" y="2971800"/>
            <a:ext cx="2624328" cy="1965960"/>
          </a:xfrm>
          <a:prstGeom prst="roundRect">
            <a:avLst>
              <a:gd name="adj" fmla="val 3721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93592" y="3127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593592" y="3456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P(chuva) = 0,307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593592" y="3986784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de chuva antes de observar a entrega.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2971800"/>
            <a:ext cx="2624328" cy="1965960"/>
          </a:xfrm>
          <a:prstGeom prst="roundRect">
            <a:avLst>
              <a:gd name="adj" fmla="val 3721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19088" y="3127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19088" y="3456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P(atraso) = 0,225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19088" y="3986784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 o resultado para virar probabilidade.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43416" y="2971800"/>
            <a:ext cx="2624328" cy="1965960"/>
          </a:xfrm>
          <a:prstGeom prst="roundRect">
            <a:avLst>
              <a:gd name="adj" fmla="val 3721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44584" y="3127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Posteriori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44584" y="3456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P(chuva | atraso) = 0,560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244584" y="3986784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das entregas atrasadas ocorreram sob chuva.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5212080"/>
            <a:ext cx="11045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no código: </a:t>
            </a:r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calculado pela fórmula (0,560) coincide com a frequência observada na base, df.loc[df['atraso']==1, 'chuva'].mean() = 0,560.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Distribuição Normal: modelando o tempo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2: a curva que descreve grandezas contínuas somadas</a:t>
            </a:r>
            <a:endParaRPr lang="en-US" sz="1400" dirty="0"/>
          </a:p>
        </p:txBody>
      </p:sp>
      <p:pic>
        <p:nvPicPr>
          <p:cNvPr id="6" name="Image 0" descr="/home/user/Projeto-Python/checkpoint4/graficos/g2_normal_ajust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36192"/>
            <a:ext cx="6903720" cy="3794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5413248"/>
            <a:ext cx="6903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média e desvio conhecidos, a curva responde qualquer pergunta de prazo, inclusive sobre valores que a base não observou.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680960" y="1536192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80960" y="1536192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f(x) = 1/(σ√2π) · e^(−(x−μ)²/2σ²)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680960" y="2578608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0" y="272491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48,9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327355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μ (min)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9646920" y="272491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15,4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646920" y="327355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desvio σ (min)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680960" y="418795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Padronização (escore z)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680960" y="4535424"/>
            <a:ext cx="3931920" cy="914400"/>
          </a:xfrm>
          <a:prstGeom prst="roundRect">
            <a:avLst>
              <a:gd name="adj" fmla="val 6000"/>
            </a:avLst>
          </a:prstGeom>
          <a:solidFill>
            <a:srgbClr val="0E2233"/>
          </a:solidFill>
          <a:ln w="12700">
            <a:solidFill>
              <a:srgbClr val="0E22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27264" y="4645152"/>
            <a:ext cx="36393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(60 − 48,94) / 15,42 = 0,717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P(T &gt; 60) = 1 − Φ(0,717) = 23,7%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Empírico na base ......... = 22,5%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0" y="559612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 95: prometer 75 min cumpriria o prazo em 95% das entregas.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a Normal aparece tanto?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de normalidade, regra empírica e Teorema Central do Limite</a:t>
            </a:r>
            <a:endParaRPr lang="en-US" sz="1400" dirty="0"/>
          </a:p>
        </p:txBody>
      </p:sp>
      <p:pic>
        <p:nvPicPr>
          <p:cNvPr id="6" name="Image 0" descr="/home/user/Projeto-Python/checkpoint4/graficos/g3_teorema_central_lim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7315200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39319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partindo de uma população fortemente assimétrica (exponencial), a distribuição das médias amostrais converge para a Normal conforme n cresce. Essa é a razão de a curva aparecer em tantos métodos estatísticos.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484632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Regra empírica 68-95-99,7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212080"/>
          <a:ext cx="4206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17320"/>
                <a:gridCol w="14173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Intervalo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Teórico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 ± 1σ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68,27%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67,00%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 ± 2σ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95,45%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95,90%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 ± 3σ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99,73%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99,80%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029200" y="4846320"/>
            <a:ext cx="2788920" cy="1371600"/>
          </a:xfrm>
          <a:prstGeom prst="roundRect">
            <a:avLst>
              <a:gd name="adj" fmla="val 5333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230368" y="49743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Shapiro-Wilk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230368" y="52669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0,995  |  p = 0,093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5230368" y="5541264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 &gt; 0,05, não rejeitamos H₀: os dados são compatíveis com a Normal.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92440" y="1554480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366760" y="1783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9E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 NORMAL É USADA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8366760" y="2194560"/>
            <a:ext cx="3017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Inicialização de pesos de redes neurais (Xavier, He)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Padronização de variáveis (z-score) antes do treino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Verossimilhança gaussiana no Naive Bayes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Detecção de anomalias acima de 3σ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Ruído gaussiano em modelos de difusão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Intervalos de confiança das métricas do modelo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Classificador Naive Bayes Gaussiano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os dois temas se encontram: Bayes decide e a Normal calcula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36192"/>
            <a:ext cx="5760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classe, o modelo estima a probabilidade a priori e uma curva Normal por variável. Diante de uma nova entrega, multiplica priori e verossimilhanças e escolhe a classe de maior probabilidade a posteriori.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2606040"/>
            <a:ext cx="5760720" cy="713232"/>
          </a:xfrm>
          <a:prstGeom prst="roundRect">
            <a:avLst>
              <a:gd name="adj" fmla="val 10256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2606040"/>
            <a:ext cx="576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P(classe | x) ∝ P(classe) · Π P(xᵢ | classe)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520440"/>
            <a:ext cx="5760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 com 70% da base: calcula P(classe), μ e σ de cada variável.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termo “naive” vem da suposição de independência entre as variáveis.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verossimilhança contínua usa a densidade da Normal na distância.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saída é uma probabilidade, e não apenas um rótulo.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629400" y="1536192"/>
            <a:ext cx="4983480" cy="4160520"/>
          </a:xfrm>
          <a:prstGeom prst="roundRect">
            <a:avLst>
              <a:gd name="adj" fmla="val 1319"/>
            </a:avLst>
          </a:prstGeom>
          <a:solidFill>
            <a:srgbClr val="0E2233"/>
          </a:solidFill>
          <a:ln w="12700">
            <a:solidFill>
              <a:srgbClr val="0E22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75704" y="1645920"/>
            <a:ext cx="4690872" cy="3941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densidade_normal(x, mu, sigma):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(1/(sigma*np.sqrt(2*np.pi))) *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np.exp(-((x-mu)**2)/(2*sigma**2))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prever(X):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posterioris = []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classe in [0, 1]: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 = parametros[classe]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veros = densidade_normal(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X, p['media'], p['desvio']).prod(axis=1)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posterioris.append(p['priori'] * veros)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 = np.vstack(posterioris)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 = post / post.sum(axis=0)   # normaliza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post.argmax(axis=0), post[1]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58064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biblioteca de machine learning foi usada. O modelo usa apenas probabilidade e a fórmula da Normal.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simulação de cenários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 no conjunto de teste (300 entregas nunca vistas)</a:t>
            </a:r>
            <a:endParaRPr lang="en-US" sz="1400" dirty="0"/>
          </a:p>
        </p:txBody>
      </p:sp>
      <p:pic>
        <p:nvPicPr>
          <p:cNvPr id="6" name="Image 0" descr="/home/user/Projeto-Python/checkpoint4/graficos/g4_naive_bay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17904"/>
            <a:ext cx="7223760" cy="2697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434340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4462272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87,3%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5010912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286000" y="434340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86000" y="4462272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89,1%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2286000" y="5010912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Precisão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114800" y="434340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114800" y="4462272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55,4%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4114800" y="5010912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43600" y="434340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0" y="4462272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0,683</a:t>
            </a:r>
            <a:endParaRPr lang="en-US" sz="34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0" y="5010912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553212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Precisão alta e recall moderado. Quando o modelo aponta atraso, quase sempre acerta, mas deixa passar parte dos atrasos limítrofes.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7955280" y="1517904"/>
            <a:ext cx="3657600" cy="4617720"/>
          </a:xfrm>
          <a:prstGeom prst="roundRect">
            <a:avLst>
              <a:gd name="adj" fmla="val 2000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83880" y="17190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PARA NOVAS ENTREGAS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183880" y="21488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km, tempo bom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0332720" y="214884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0,0%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8183880" y="271576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km, com chuva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0332720" y="271576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20,6%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8183880" y="328269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km, horário de pico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10332720" y="3282696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69,9%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8183880" y="384962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km, chuva e pico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10332720" y="3849624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97,7%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8183880" y="45720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Uso na operação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183880" y="490118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risco calculado pedido a pedido, a operação consegue reforçar a frota, reroteirizar ou avisar o cliente antes que o prazo estoure.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Simulação de Monte Carlo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20.000 sorteios por cenário para comparar decisões</a:t>
            </a:r>
            <a:endParaRPr lang="en-US" sz="1400" dirty="0"/>
          </a:p>
        </p:txBody>
      </p:sp>
      <p:pic>
        <p:nvPicPr>
          <p:cNvPr id="6" name="Image 0" descr="/home/user/Projeto-Python/checkpoint4/graficos/g5_monte_car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7132320" cy="3611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5303520"/>
            <a:ext cx="7132320" cy="658368"/>
          </a:xfrm>
          <a:prstGeom prst="roundRect">
            <a:avLst>
              <a:gd name="adj" fmla="val 8333"/>
            </a:avLst>
          </a:prstGeom>
          <a:solidFill>
            <a:srgbClr val="0E2233"/>
          </a:solidFill>
          <a:ln w="12700">
            <a:solidFill>
              <a:srgbClr val="0E22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9224" y="5413248"/>
            <a:ext cx="6839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amostras = rng.normal(mu, sigma, 20000)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risco = (amostras &gt; 60).mean()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909560" y="1554480"/>
            <a:ext cx="3703320" cy="2148840"/>
          </a:xfrm>
          <a:prstGeom prst="roundRect">
            <a:avLst>
              <a:gd name="adj" fmla="val 3404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3816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REDUÇÃO DO RISCO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20574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23,7% → 6,8%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2724912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17 pontos percentuais combinando roteirização automática e padronização da frota, o que representa cerca de 17 mil entregas atrasadas a menos a cada 100 mil.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3886200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Leitura dos cenários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4251960"/>
            <a:ext cx="3703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 caso, reduzir a média (μ) pesa mais do que reduzir o desvio (σ).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ações combinadas derrubam o risco a menos de um terço.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Simular a decisão antes de aplicá-la evita testar hipóteses na operação real.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4572000"/>
            <a:ext cx="3291840" cy="3291840"/>
          </a:xfrm>
          <a:prstGeom prst="ellipse">
            <a:avLst/>
          </a:prstGeom>
          <a:solidFill>
            <a:srgbClr val="1C7293">
              <a:alpha val="3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Conclusão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0700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9E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dos resultados e benefícios da solução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2E3A73"/>
          </a:solidFill>
          <a:ln w="12700">
            <a:solidFill>
              <a:srgbClr val="2E3A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084832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06654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média escondia o risco real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54203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6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taxa geral de 22,5% de atrasos convivia com cenários de 64,7%. Foram a probabilidade condicional e o Teorema de Bayes que mostraram onde o risco se concentra.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182880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2E3A73"/>
          </a:solidFill>
          <a:ln w="12700">
            <a:solidFill>
              <a:srgbClr val="2E3A7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0" y="2084832"/>
            <a:ext cx="384048" cy="384048"/>
          </a:xfrm>
          <a:prstGeom prst="ellipse">
            <a:avLst/>
          </a:prstGeom>
          <a:solidFill>
            <a:srgbClr val="D1495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206654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Normal descreveu bem o tempo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254203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6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μ = 48,9 e σ = 15,4 min, a curva estimou 23,7% de estouro de SLA, contra 22,5% observados, e apontou 75 min como prazo capaz de cobrir 95% das entregas.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85800" y="388620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2E3A73"/>
          </a:solidFill>
          <a:ln w="12700">
            <a:solidFill>
              <a:srgbClr val="2E3A7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4142232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012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12394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conceito ao modelo preditivo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59943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6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Naive Bayes Gaussiano escrito do zero, usando apenas Bayes e a densidade normal, atingiu 87,3% de acurácia e 89,1% de precisão em dados nunca vistos.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309360" y="388620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2E3A73"/>
          </a:solidFill>
          <a:ln w="12700">
            <a:solidFill>
              <a:srgbClr val="2E3A7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0" y="4142232"/>
            <a:ext cx="384048" cy="384048"/>
          </a:xfrm>
          <a:prstGeom prst="ellipse">
            <a:avLst/>
          </a:prstGeom>
          <a:solidFill>
            <a:srgbClr val="D1495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412394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Ganho possível para a operação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086600" y="459943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6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simulação de Monte Carlo apontou queda do risco de 23,7% para 6,8%, com reflexo em multas de SLA, retrabalho logístico e satisfação do cliente.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60807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continuidade, o mesmo modelo poderia ser treinado com dados reais de telemetria e comparado com regressão logística e gradient boosting.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Bibliografia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 segundo as normas da ABNT (NBR 6023)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545336"/>
            <a:ext cx="11045952" cy="658368"/>
          </a:xfrm>
          <a:prstGeom prst="roundRect">
            <a:avLst>
              <a:gd name="adj" fmla="val 6944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81912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BUSSAB, Wilson de O.; MORETTIN, Pedro A. Estatística básica. 9. ed. São Paulo: Saraiva, 2017.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48840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MONTGOMERY, Douglas C.; RUNGER, George C. Estatística aplicada e probabilidade para engenheiros. 7. ed. Rio de Janeiro: LTC, 2021.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679192"/>
            <a:ext cx="11045952" cy="658368"/>
          </a:xfrm>
          <a:prstGeom prst="roundRect">
            <a:avLst>
              <a:gd name="adj" fmla="val 6944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715768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FÁVERO, Luiz Paulo; BELFIORE, Patrícia. Manual de análise de dados: estatística e modelagem multivariada. Rio de Janeiro: LTC, 2017.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282696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JAMES, Gareth et al. An introduction to statistical learning: with applications in Python. Cham: Springer, 2023.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813048"/>
            <a:ext cx="11045952" cy="658368"/>
          </a:xfrm>
          <a:prstGeom prst="roundRect">
            <a:avLst>
              <a:gd name="adj" fmla="val 6944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8496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GÉRON, Aurélien. Mãos à obra: aprendizado de máquina com Scikit-Learn, Keras &amp; TensorFlow. 2. ed. Rio de Janeiro: Alta Books, 2021.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416552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MCKINNEY, Wes. Python para análise de dados: tratamento de dados com Pandas, NumPy e Jupyter. 3. ed. São Paulo: Novatec, 2023.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946904"/>
            <a:ext cx="11045952" cy="658368"/>
          </a:xfrm>
          <a:prstGeom prst="roundRect">
            <a:avLst>
              <a:gd name="adj" fmla="val 6944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983480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DEVELOPERS. NumPy documentation: random sampling (numpy.random). Disponível em: https://numpy.org/doc/stable/reference/random/index.html. Acesso em: 10 set. 2026.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550408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SCIPY COMMUNITY. SciPy documentation: statistical functions (scipy.stats). Disponível em: https://docs.scipy.org/doc/scipy/reference/stats.html. Acesso em: 10 set. 2026.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199632"/>
            <a:ext cx="11045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Código-fonte completo no arquivo codigo_cp4.py, executado em Python 3.11 com NumPy, pandas, SciPy e Matplotlib.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Checkpoint 4 - Probabilidade e Distribuicao Normal na IA</dc:title>
  <dc:subject>PptxGenJS Presentation</dc:subject>
  <dc:creator>Equipe Perceptron - FIAP</dc:creator>
  <cp:lastModifiedBy>Equipe Perceptron - FIAP</cp:lastModifiedBy>
  <cp:revision>1</cp:revision>
  <dcterms:created xsi:type="dcterms:W3CDTF">2026-09-10T14:26:32Z</dcterms:created>
  <dcterms:modified xsi:type="dcterms:W3CDTF">2026-09-10T14:26:32Z</dcterms:modified>
</cp:coreProperties>
</file>